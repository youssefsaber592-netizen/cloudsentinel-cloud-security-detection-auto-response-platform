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image" Target="../media/image-5-3.jpeg"/><Relationship Id="rId4" Type="http://schemas.openxmlformats.org/officeDocument/2006/relationships/image" Target="../media/image-5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image" Target="../media/image-6-3.jpeg"/><Relationship Id="rId4" Type="http://schemas.openxmlformats.org/officeDocument/2006/relationships/image" Target="../media/image-6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4572000" cy="4572000"/>
          </a:xfrm>
          <a:prstGeom prst="ellipse">
            <a:avLst/>
          </a:prstGeom>
          <a:solidFill>
            <a:srgbClr val="3B82F6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FB923C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417320"/>
            <a:ext cx="2331720" cy="384048"/>
          </a:xfrm>
          <a:prstGeom prst="roundRect">
            <a:avLst>
              <a:gd name="adj" fmla="val 50000"/>
            </a:avLst>
          </a:prstGeom>
          <a:solidFill>
            <a:srgbClr val="141B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41732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CLOUD SECURITY PROJECT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8745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CloudSentinel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632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 Detection &amp; Auto-Response Platform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6576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highly-available AWS web platform with a built-in deception layer that detects reconnaissance activity, logs security events, and triggers real-time email alerts.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5989320"/>
            <a:ext cx="18288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610819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Youssef  •  Digital Egypt Pioneers Initiative (DEPI) — AWS Cloud Architecting Track</a:t>
            </a:r>
            <a:endParaRPr lang="en-US" sz="115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10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45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afterEffect">
                            <p:stCondLst>
                              <p:cond delay="14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0" nodeType="afterEffect">
                            <p:stCondLst>
                              <p:cond delay="2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grpId="0" nodeType="afterEffect">
                            <p:stCondLst>
                              <p:cond delay="42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grpId="0" nodeType="afterEffect">
                            <p:stCondLst>
                              <p:cond delay="56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grpId="0" nodeType="after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grpId="0" nodeType="afterEffect">
                            <p:stCondLst>
                              <p:cond delay="84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grpId="0" nodeType="afterEffect">
                            <p:stCondLst>
                              <p:cond delay="98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10" presetClass="entr" presetSubtype="0" fill="hold" grpId="0" nodeType="afterEffect">
                            <p:stCondLst>
                              <p:cond delay="112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645920"/>
            <a:ext cx="4206240" cy="4206240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5943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&amp; Participants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43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behind the CloudSentinel implementation.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5052060" cy="1173480"/>
          </a:xfrm>
          <a:prstGeom prst="roundRect">
            <a:avLst>
              <a:gd name="adj" fmla="val 7013"/>
            </a:avLst>
          </a:prstGeom>
          <a:solidFill>
            <a:srgbClr val="141B2E"/>
          </a:solidFill>
          <a:ln w="12700">
            <a:solidFill>
              <a:srgbClr val="2A34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8992" y="2269236"/>
            <a:ext cx="566928" cy="5669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78992" y="22692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KW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1965960"/>
            <a:ext cx="3863340" cy="1173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Khaled Wasef Helil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332220" y="1965960"/>
            <a:ext cx="5052060" cy="1173480"/>
          </a:xfrm>
          <a:prstGeom prst="roundRect">
            <a:avLst>
              <a:gd name="adj" fmla="val 7013"/>
            </a:avLst>
          </a:prstGeom>
          <a:solidFill>
            <a:srgbClr val="141B2E"/>
          </a:solidFill>
          <a:ln w="12700">
            <a:solidFill>
              <a:srgbClr val="2A345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8252" y="2269236"/>
            <a:ext cx="566928" cy="566928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88252" y="22692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338060" y="1965960"/>
            <a:ext cx="3863340" cy="1173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Eyad Mohammed Shaltoot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22960" y="3459480"/>
            <a:ext cx="5052060" cy="1173480"/>
          </a:xfrm>
          <a:prstGeom prst="roundRect">
            <a:avLst>
              <a:gd name="adj" fmla="val 7013"/>
            </a:avLst>
          </a:prstGeom>
          <a:solidFill>
            <a:srgbClr val="141B2E"/>
          </a:solidFill>
          <a:ln w="12700">
            <a:solidFill>
              <a:srgbClr val="2A345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78992" y="3762756"/>
            <a:ext cx="566928" cy="56692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78992" y="37627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828800" y="3459480"/>
            <a:ext cx="3863340" cy="1173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Samaa Esam Mostafa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332220" y="3459480"/>
            <a:ext cx="5052060" cy="1173480"/>
          </a:xfrm>
          <a:prstGeom prst="roundRect">
            <a:avLst>
              <a:gd name="adj" fmla="val 7013"/>
            </a:avLst>
          </a:prstGeom>
          <a:solidFill>
            <a:srgbClr val="141B2E"/>
          </a:solidFill>
          <a:ln w="12700">
            <a:solidFill>
              <a:srgbClr val="2A345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8252" y="3762756"/>
            <a:ext cx="566928" cy="566928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88252" y="37627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338060" y="3459480"/>
            <a:ext cx="3863340" cy="1173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 Mahmoud Ali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822960" y="4953000"/>
            <a:ext cx="5052060" cy="1173480"/>
          </a:xfrm>
          <a:prstGeom prst="roundRect">
            <a:avLst>
              <a:gd name="adj" fmla="val 7013"/>
            </a:avLst>
          </a:prstGeom>
          <a:solidFill>
            <a:srgbClr val="141B2E"/>
          </a:solidFill>
          <a:ln w="12700">
            <a:solidFill>
              <a:srgbClr val="2A345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78992" y="5256276"/>
            <a:ext cx="566928" cy="566928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78992" y="52562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MF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828800" y="4953000"/>
            <a:ext cx="3863340" cy="1173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Fathy Mohamed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332220" y="4953000"/>
            <a:ext cx="5052060" cy="1173480"/>
          </a:xfrm>
          <a:prstGeom prst="roundRect">
            <a:avLst>
              <a:gd name="adj" fmla="val 7013"/>
            </a:avLst>
          </a:prstGeom>
          <a:solidFill>
            <a:srgbClr val="141B2E"/>
          </a:solidFill>
          <a:ln w="12700">
            <a:solidFill>
              <a:srgbClr val="2A345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8252" y="5256276"/>
            <a:ext cx="566928" cy="56692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588252" y="52562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YS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7338060" y="4953000"/>
            <a:ext cx="3863340" cy="1173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Youssef Saber Salama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CloudSentinel — Cloud Security Detection &amp; Auto-Response Platform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23157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10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45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afterEffect">
                            <p:stCondLst>
                              <p:cond delay="14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0" nodeType="afterEffect">
                            <p:stCondLst>
                              <p:cond delay="2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grpId="0" nodeType="afterEffect">
                            <p:stCondLst>
                              <p:cond delay="42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grpId="0" nodeType="afterEffect">
                            <p:stCondLst>
                              <p:cond delay="56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grpId="0" nodeType="after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grpId="0" nodeType="afterEffect">
                            <p:stCondLst>
                              <p:cond delay="84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grpId="0" nodeType="afterEffect">
                            <p:stCondLst>
                              <p:cond delay="98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10" presetClass="entr" presetSubtype="0" fill="hold" grpId="0" nodeType="afterEffect">
                            <p:stCondLst>
                              <p:cond delay="112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presetID="10" presetClass="entr" presetSubtype="0" fill="hold" grpId="0" nodeType="afterEffect">
                            <p:stCondLst>
                              <p:cond delay="126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presetID="10" presetClass="entr" presetSubtype="0" fill="hold" grpId="0" nodeType="afterEffect">
                            <p:stCondLst>
                              <p:cond delay="140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presetID="10" presetClass="entr" presetSubtype="0" fill="hold" grpId="0" nodeType="afterEffect">
                            <p:stCondLst>
                              <p:cond delay="154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afterEffect">
                            <p:stCondLst>
                              <p:cond delay="168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9" presetID="10" presetClass="entr" presetSubtype="0" fill="hold" grpId="0" nodeType="afterEffect">
                            <p:stCondLst>
                              <p:cond delay="182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2" presetID="10" presetClass="entr" presetSubtype="0" fill="hold" grpId="0" nodeType="afterEffect">
                            <p:stCondLst>
                              <p:cond delay="196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5" presetID="10" presetClass="entr" presetSubtype="0" fill="hold" grpId="0" nodeType="afterEffect">
                            <p:stCondLst>
                              <p:cond delay="210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7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8" presetID="10" presetClass="entr" presetSubtype="0" fill="hold" grpId="0" nodeType="afterEffect">
                            <p:stCondLst>
                              <p:cond delay="224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4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afterEffect">
                            <p:stCondLst>
                              <p:cond delay="238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45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4" presetID="10" presetClass="entr" presetSubtype="0" fill="hold" grpId="0" nodeType="afterEffect">
                            <p:stCondLst>
                              <p:cond delay="252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6" dur="45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7" presetID="10" presetClass="entr" presetSubtype="0" fill="hold" grpId="0" nodeType="afterEffect">
                            <p:stCondLst>
                              <p:cond delay="2660"/>
                            </p:stCondLst>
                            <p:childTnLst>
                              <p:set>
                                <p:cBhvr>
                                  <p:cTn id="6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9" dur="45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0" presetID="10" presetClass="entr" presetSubtype="0" fill="hold" grpId="0" nodeType="afterEffect">
                            <p:stCondLst>
                              <p:cond delay="2800"/>
                            </p:stCondLst>
                            <p:childTnLst>
                              <p:set>
                                <p:cBhvr>
                                  <p:cTn id="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2" dur="45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3" presetID="10" presetClass="entr" presetSubtype="0" fill="hold" grpId="0" nodeType="afterEffect">
                            <p:stCondLst>
                              <p:cond delay="2940"/>
                            </p:stCondLst>
                            <p:childTnLst>
                              <p:set>
                                <p:cBhvr>
                                  <p:cTn id="7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5" dur="45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6" presetID="10" presetClass="entr" presetSubtype="0" fill="hold" grpId="0" nodeType="afterEffect">
                            <p:stCondLst>
                              <p:cond delay="3080"/>
                            </p:stCondLst>
                            <p:childTnLst>
                              <p:set>
                                <p:cBhvr>
                                  <p:cTn id="7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8" dur="45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9" presetID="10" presetClass="entr" presetSubtype="0" fill="hold" grpId="0" nodeType="afterEffect">
                            <p:stCondLst>
                              <p:cond delay="3220"/>
                            </p:stCondLst>
                            <p:childTnLst>
                              <p:set>
                                <p:cBhvr>
                                  <p:cTn id="8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1" dur="45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2" presetID="10" presetClass="entr" presetSubtype="0" fill="hold" grpId="0" nodeType="afterEffect">
                            <p:stCondLst>
                              <p:cond delay="3360"/>
                            </p:stCondLst>
                            <p:childTnLst>
                              <p:set>
                                <p:cBhvr>
                                  <p:cTn id="8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4" dur="45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5" presetID="10" presetClass="entr" presetSubtype="0" fill="hold" grpId="0" nodeType="afterEffect">
                            <p:stCondLst>
                              <p:cond delay="3500"/>
                            </p:stCondLst>
                            <p:childTnLst>
                              <p:set>
                                <p:cBhvr>
                                  <p:cTn id="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7" dur="45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8" presetID="10" presetClass="entr" presetSubtype="0" fill="hold" grpId="0" nodeType="afterEffect">
                            <p:stCondLst>
                              <p:cond delay="3640"/>
                            </p:stCondLst>
                            <p:childTnLst>
                              <p:set>
                                <p:cBhvr>
                                  <p:cTn id="8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0" dur="45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1" presetID="10" presetClass="entr" presetSubtype="0" fill="hold" grpId="0" nodeType="afterEffect">
                            <p:stCondLst>
                              <p:cond delay="3780"/>
                            </p:stCondLst>
                            <p:childTnLst>
                              <p:set>
                                <p:cBhvr>
                                  <p:cTn id="9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3" dur="45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4" presetID="10" presetClass="entr" presetSubtype="0" fill="hold" grpId="0" nodeType="afterEffect">
                            <p:stCondLst>
                              <p:cond delay="3920"/>
                            </p:stCondLst>
                            <p:childTnLst>
                              <p:set>
                                <p:cBhvr>
                                  <p:cTn id="9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6" dur="450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143000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CloudSentinel is a self-defending cloud infrastructure built end-to-end on AWS. Beyond hosting a highly-available web application, it actively watches for attackers by exposing convincing decoy endpoints, logging every probe, and notifying the security team the moment something suspicious happens.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89320" y="1143000"/>
            <a:ext cx="384048" cy="38404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89320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537960" y="10972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Isolated, Multi-AZ Network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6537960" y="143560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 VPC with public/private subnets across two Availability Zones.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989320" y="2313432"/>
            <a:ext cx="384048" cy="384048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89320" y="2313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26771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Deception-Based Detection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6060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/admin, /debug and /config routes bait and log attacker behaviour.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989320" y="3483864"/>
            <a:ext cx="384048" cy="38404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89320" y="3483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343814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Alerting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3776472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 pushes a real-time e-mail the moment a decoy path is triggered.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89320" y="4654296"/>
            <a:ext cx="384048" cy="384048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89320" y="4654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460857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&amp; Resilient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6537960" y="4946904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Application Load Balancer + Auto Scaling Group keep the app online.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36118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AWS Services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" y="3977640"/>
            <a:ext cx="1615440" cy="475488"/>
          </a:xfrm>
          <a:prstGeom prst="roundRect">
            <a:avLst>
              <a:gd name="adj" fmla="val 11538"/>
            </a:avLst>
          </a:prstGeom>
          <a:solidFill>
            <a:srgbClr val="1C2540"/>
          </a:solidFill>
          <a:ln w="12700">
            <a:solidFill>
              <a:srgbClr val="2A345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02920" y="3977640"/>
            <a:ext cx="1615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&amp; Subnets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255520" y="3977640"/>
            <a:ext cx="1615440" cy="475488"/>
          </a:xfrm>
          <a:prstGeom prst="roundRect">
            <a:avLst>
              <a:gd name="adj" fmla="val 11538"/>
            </a:avLst>
          </a:prstGeom>
          <a:solidFill>
            <a:srgbClr val="1C2540"/>
          </a:solidFill>
          <a:ln w="12700">
            <a:solidFill>
              <a:srgbClr val="2A345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255520" y="3977640"/>
            <a:ext cx="1615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008120" y="3977640"/>
            <a:ext cx="1615440" cy="475488"/>
          </a:xfrm>
          <a:prstGeom prst="roundRect">
            <a:avLst>
              <a:gd name="adj" fmla="val 11538"/>
            </a:avLst>
          </a:prstGeom>
          <a:solidFill>
            <a:srgbClr val="1C2540"/>
          </a:solidFill>
          <a:ln w="12700">
            <a:solidFill>
              <a:srgbClr val="2A345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008120" y="3977640"/>
            <a:ext cx="1615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02920" y="4599432"/>
            <a:ext cx="1615440" cy="475488"/>
          </a:xfrm>
          <a:prstGeom prst="roundRect">
            <a:avLst>
              <a:gd name="adj" fmla="val 11538"/>
            </a:avLst>
          </a:prstGeom>
          <a:solidFill>
            <a:srgbClr val="1C2540"/>
          </a:solidFill>
          <a:ln w="12700">
            <a:solidFill>
              <a:srgbClr val="2A345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02920" y="4599432"/>
            <a:ext cx="1615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255520" y="4599432"/>
            <a:ext cx="1615440" cy="475488"/>
          </a:xfrm>
          <a:prstGeom prst="roundRect">
            <a:avLst>
              <a:gd name="adj" fmla="val 11538"/>
            </a:avLst>
          </a:prstGeom>
          <a:solidFill>
            <a:srgbClr val="1C2540"/>
          </a:solidFill>
          <a:ln w="12700">
            <a:solidFill>
              <a:srgbClr val="2A345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255520" y="4599432"/>
            <a:ext cx="1615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(MySQL)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008120" y="4599432"/>
            <a:ext cx="1615440" cy="475488"/>
          </a:xfrm>
          <a:prstGeom prst="roundRect">
            <a:avLst>
              <a:gd name="adj" fmla="val 11538"/>
            </a:avLst>
          </a:prstGeom>
          <a:solidFill>
            <a:srgbClr val="1C2540"/>
          </a:solidFill>
          <a:ln w="12700">
            <a:solidFill>
              <a:srgbClr val="2A345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008120" y="4599432"/>
            <a:ext cx="1615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02920" y="5221224"/>
            <a:ext cx="1615440" cy="475488"/>
          </a:xfrm>
          <a:prstGeom prst="roundRect">
            <a:avLst>
              <a:gd name="adj" fmla="val 11538"/>
            </a:avLst>
          </a:prstGeom>
          <a:solidFill>
            <a:srgbClr val="1C2540"/>
          </a:solidFill>
          <a:ln w="12700">
            <a:solidFill>
              <a:srgbClr val="2A345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02920" y="5221224"/>
            <a:ext cx="1615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SSM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2255520" y="5221224"/>
            <a:ext cx="1615440" cy="475488"/>
          </a:xfrm>
          <a:prstGeom prst="roundRect">
            <a:avLst>
              <a:gd name="adj" fmla="val 11538"/>
            </a:avLst>
          </a:prstGeom>
          <a:solidFill>
            <a:srgbClr val="1C2540"/>
          </a:solidFill>
          <a:ln w="12700">
            <a:solidFill>
              <a:srgbClr val="2A345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2255520" y="5221224"/>
            <a:ext cx="1615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008120" y="5221224"/>
            <a:ext cx="1615440" cy="475488"/>
          </a:xfrm>
          <a:prstGeom prst="roundRect">
            <a:avLst>
              <a:gd name="adj" fmla="val 11538"/>
            </a:avLst>
          </a:prstGeom>
          <a:solidFill>
            <a:srgbClr val="1C2540"/>
          </a:solidFill>
          <a:ln w="12700">
            <a:solidFill>
              <a:srgbClr val="2A345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008120" y="5221224"/>
            <a:ext cx="1615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Scaling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CloudSentinel — Cloud Security Detection &amp; Auto-Response Platform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1123157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10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45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afterEffect">
                            <p:stCondLst>
                              <p:cond delay="14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0" nodeType="afterEffect">
                            <p:stCondLst>
                              <p:cond delay="2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grpId="0" nodeType="afterEffect">
                            <p:stCondLst>
                              <p:cond delay="42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grpId="0" nodeType="afterEffect">
                            <p:stCondLst>
                              <p:cond delay="56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grpId="0" nodeType="after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grpId="0" nodeType="afterEffect">
                            <p:stCondLst>
                              <p:cond delay="84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grpId="0" nodeType="afterEffect">
                            <p:stCondLst>
                              <p:cond delay="98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10" presetClass="entr" presetSubtype="0" fill="hold" grpId="0" nodeType="afterEffect">
                            <p:stCondLst>
                              <p:cond delay="112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presetID="10" presetClass="entr" presetSubtype="0" fill="hold" grpId="0" nodeType="afterEffect">
                            <p:stCondLst>
                              <p:cond delay="126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presetID="10" presetClass="entr" presetSubtype="0" fill="hold" grpId="0" nodeType="afterEffect">
                            <p:stCondLst>
                              <p:cond delay="140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presetID="10" presetClass="entr" presetSubtype="0" fill="hold" grpId="0" nodeType="afterEffect">
                            <p:stCondLst>
                              <p:cond delay="154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afterEffect">
                            <p:stCondLst>
                              <p:cond delay="168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9" presetID="10" presetClass="entr" presetSubtype="0" fill="hold" grpId="0" nodeType="afterEffect">
                            <p:stCondLst>
                              <p:cond delay="182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2" presetID="10" presetClass="entr" presetSubtype="0" fill="hold" grpId="0" nodeType="afterEffect">
                            <p:stCondLst>
                              <p:cond delay="196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5" presetID="10" presetClass="entr" presetSubtype="0" fill="hold" grpId="0" nodeType="afterEffect">
                            <p:stCondLst>
                              <p:cond delay="210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7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8" presetID="10" presetClass="entr" presetSubtype="0" fill="hold" grpId="0" nodeType="afterEffect">
                            <p:stCondLst>
                              <p:cond delay="224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4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afterEffect">
                            <p:stCondLst>
                              <p:cond delay="238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45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4" presetID="10" presetClass="entr" presetSubtype="0" fill="hold" grpId="0" nodeType="afterEffect">
                            <p:stCondLst>
                              <p:cond delay="252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6" dur="45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7" presetID="10" presetClass="entr" presetSubtype="0" fill="hold" grpId="0" nodeType="afterEffect">
                            <p:stCondLst>
                              <p:cond delay="2660"/>
                            </p:stCondLst>
                            <p:childTnLst>
                              <p:set>
                                <p:cBhvr>
                                  <p:cTn id="6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9" dur="45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0" presetID="10" presetClass="entr" presetSubtype="0" fill="hold" grpId="0" nodeType="afterEffect">
                            <p:stCondLst>
                              <p:cond delay="2800"/>
                            </p:stCondLst>
                            <p:childTnLst>
                              <p:set>
                                <p:cBhvr>
                                  <p:cTn id="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2" dur="45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3" presetID="10" presetClass="entr" presetSubtype="0" fill="hold" grpId="0" nodeType="afterEffect">
                            <p:stCondLst>
                              <p:cond delay="2940"/>
                            </p:stCondLst>
                            <p:childTnLst>
                              <p:set>
                                <p:cBhvr>
                                  <p:cTn id="7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5" dur="45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6" presetID="10" presetClass="entr" presetSubtype="0" fill="hold" grpId="0" nodeType="afterEffect">
                            <p:stCondLst>
                              <p:cond delay="3080"/>
                            </p:stCondLst>
                            <p:childTnLst>
                              <p:set>
                                <p:cBhvr>
                                  <p:cTn id="7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8" dur="45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9" presetID="10" presetClass="entr" presetSubtype="0" fill="hold" grpId="0" nodeType="afterEffect">
                            <p:stCondLst>
                              <p:cond delay="3220"/>
                            </p:stCondLst>
                            <p:childTnLst>
                              <p:set>
                                <p:cBhvr>
                                  <p:cTn id="8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1" dur="45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2" presetID="10" presetClass="entr" presetSubtype="0" fill="hold" grpId="0" nodeType="afterEffect">
                            <p:stCondLst>
                              <p:cond delay="3360"/>
                            </p:stCondLst>
                            <p:childTnLst>
                              <p:set>
                                <p:cBhvr>
                                  <p:cTn id="8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4" dur="45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5" presetID="10" presetClass="entr" presetSubtype="0" fill="hold" grpId="0" nodeType="afterEffect">
                            <p:stCondLst>
                              <p:cond delay="3500"/>
                            </p:stCondLst>
                            <p:childTnLst>
                              <p:set>
                                <p:cBhvr>
                                  <p:cTn id="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7" dur="45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8" presetID="10" presetClass="entr" presetSubtype="0" fill="hold" grpId="0" nodeType="afterEffect">
                            <p:stCondLst>
                              <p:cond delay="3640"/>
                            </p:stCondLst>
                            <p:childTnLst>
                              <p:set>
                                <p:cBhvr>
                                  <p:cTn id="8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0" dur="45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1" presetID="10" presetClass="entr" presetSubtype="0" fill="hold" grpId="0" nodeType="afterEffect">
                            <p:stCondLst>
                              <p:cond delay="3780"/>
                            </p:stCondLst>
                            <p:childTnLst>
                              <p:set>
                                <p:cBhvr>
                                  <p:cTn id="9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3" dur="45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4" presetID="10" presetClass="entr" presetSubtype="0" fill="hold" grpId="0" nodeType="afterEffect">
                            <p:stCondLst>
                              <p:cond delay="3920"/>
                            </p:stCondLst>
                            <p:childTnLst>
                              <p:set>
                                <p:cBhvr>
                                  <p:cTn id="9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6" dur="450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7" presetID="10" presetClass="entr" presetSubtype="0" fill="hold" grpId="0" nodeType="afterEffect">
                            <p:stCondLst>
                              <p:cond delay="4060"/>
                            </p:stCondLst>
                            <p:childTnLst>
                              <p:set>
                                <p:cBhvr>
                                  <p:cTn id="9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9" dur="45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0" presetID="10" presetClass="entr" presetSubtype="0" fill="hold" grpId="0" nodeType="afterEffect">
                            <p:stCondLst>
                              <p:cond delay="4200"/>
                            </p:stCondLst>
                            <p:childTnLst>
                              <p:set>
                                <p:cBhvr>
                                  <p:cTn id="10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2" dur="450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3" presetID="10" presetClass="entr" presetSubtype="0" fill="hold" grpId="0" nodeType="afterEffect">
                            <p:stCondLst>
                              <p:cond delay="4340"/>
                            </p:stCondLst>
                            <p:childTnLst>
                              <p:set>
                                <p:cBhvr>
                                  <p:cTn id="10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5" dur="450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6" presetID="10" presetClass="entr" presetSubtype="0" fill="hold" grpId="0" nodeType="afterEffect">
                            <p:stCondLst>
                              <p:cond delay="4480"/>
                            </p:stCondLst>
                            <p:childTnLst>
                              <p:set>
                                <p:cBhvr>
                                  <p:cTn id="10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8" dur="450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9" presetID="10" presetClass="entr" presetSubtype="0" fill="hold" grpId="0" nodeType="afterEffect">
                            <p:stCondLst>
                              <p:cond delay="4620"/>
                            </p:stCondLst>
                            <p:childTnLst>
                              <p:set>
                                <p:cBhvr>
                                  <p:cTn id="1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1" dur="450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2" presetID="10" presetClass="entr" presetSubtype="0" fill="hold" grpId="0" nodeType="afterEffect">
                            <p:stCondLst>
                              <p:cond delay="4760"/>
                            </p:stCondLst>
                            <p:childTnLst>
                              <p:set>
                                <p:cBhvr>
                                  <p:cTn id="1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4" dur="450"/>
                                  <p:tgtEl>
                                    <p:spTgt spid="3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5" presetID="10" presetClass="entr" presetSubtype="0" fill="hold" grpId="0" nodeType="afterEffect">
                            <p:stCondLst>
                              <p:cond delay="4900"/>
                            </p:stCondLst>
                            <p:childTnLst>
                              <p:set>
                                <p:cBhvr>
                                  <p:cTn id="1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7" dur="450"/>
                                  <p:tgtEl>
                                    <p:spTgt spid="3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8" presetID="10" presetClass="entr" presetSubtype="0" fill="hold" grpId="0" nodeType="afterEffect">
                            <p:stCondLst>
                              <p:cond delay="5040"/>
                            </p:stCondLst>
                            <p:childTnLst>
                              <p:set>
                                <p:cBhvr>
                                  <p:cTn id="1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0" dur="450"/>
                                  <p:tgtEl>
                                    <p:spTgt spid="3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1" presetID="10" presetClass="entr" presetSubtype="0" fill="hold" grpId="0" nodeType="afterEffect">
                            <p:stCondLst>
                              <p:cond delay="5180"/>
                            </p:stCondLst>
                            <p:childTnLst>
                              <p:set>
                                <p:cBhvr>
                                  <p:cTn id="1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3" dur="450"/>
                                  <p:tgtEl>
                                    <p:spTgt spid="3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4" presetID="10" presetClass="entr" presetSubtype="0" fill="hold" grpId="0" nodeType="afterEffect">
                            <p:stCondLst>
                              <p:cond delay="5320"/>
                            </p:stCondLst>
                            <p:childTnLst>
                              <p:set>
                                <p:cBhvr>
                                  <p:cTn id="1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6" dur="450"/>
                                  <p:tgtEl>
                                    <p:spTgt spid="4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Monitoring Concept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detection-and-response flow implemented across the project: activity is captured, filtered, and pushed to the security team as an alert.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443689" y="1463040"/>
            <a:ext cx="9274143" cy="4791456"/>
          </a:xfrm>
          <a:prstGeom prst="roundRect">
            <a:avLst>
              <a:gd name="adj" fmla="val 114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5000"/>
              </a:srgbClr>
            </a:outerShdw>
          </a:effectLst>
        </p:spPr>
      </p:sp>
      <p:pic>
        <p:nvPicPr>
          <p:cNvPr id="5" name="Image 0" descr="1788238796295_im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571705" y="1591056"/>
            <a:ext cx="9018111" cy="45354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CloudSentinel — Cloud Security Detection &amp; Auto-Response Platform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23157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10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45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afterEffect">
                            <p:stCondLst>
                              <p:cond delay="14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0" nodeType="afterEffect">
                            <p:stCondLst>
                              <p:cond delay="2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grpId="0" nodeType="afterEffect">
                            <p:stCondLst>
                              <p:cond delay="42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grpId="0" nodeType="afterEffect">
                            <p:stCondLst>
                              <p:cond delay="56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grpId="0" nodeType="after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8404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the Network Foundation (VPC)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8686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 VPC spans two Availability Zones with public and private subnets, its own route tables, and an Internet Gateway.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57232" y="1600200"/>
            <a:ext cx="4747144" cy="1975104"/>
          </a:xfrm>
          <a:prstGeom prst="roundRect">
            <a:avLst>
              <a:gd name="adj" fmla="val 27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5000"/>
              </a:srgbClr>
            </a:outerShdw>
          </a:effectLst>
        </p:spPr>
      </p:sp>
      <p:pic>
        <p:nvPicPr>
          <p:cNvPr id="7" name="Image 0" descr="WhatsApp_Image_2026-09-01_at_12_37_31_AM__1_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85248" y="1728216"/>
            <a:ext cx="4491112" cy="171907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02920" y="3575304"/>
            <a:ext cx="5455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Subnets across two Availability Zones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33008" y="1753298"/>
            <a:ext cx="5455768" cy="1668907"/>
          </a:xfrm>
          <a:prstGeom prst="roundRect">
            <a:avLst>
              <a:gd name="adj" fmla="val 328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5000"/>
              </a:srgbClr>
            </a:outerShdw>
          </a:effectLst>
        </p:spPr>
      </p:sp>
      <p:pic>
        <p:nvPicPr>
          <p:cNvPr id="10" name="Image 1" descr="WhatsApp_Image_2026-09-01_at_12_37_31_AM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61024" y="1881314"/>
            <a:ext cx="5199736" cy="141287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233008" y="3575304"/>
            <a:ext cx="5455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Gateway attached to the VPC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1045716" y="4160520"/>
            <a:ext cx="4370175" cy="1975104"/>
          </a:xfrm>
          <a:prstGeom prst="roundRect">
            <a:avLst>
              <a:gd name="adj" fmla="val 27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5000"/>
              </a:srgbClr>
            </a:outerShdw>
          </a:effectLst>
        </p:spPr>
      </p:sp>
      <p:pic>
        <p:nvPicPr>
          <p:cNvPr id="13" name="Image 2" descr="WhatsApp_Image_2026-09-01_at_12_37_32_AM.jpe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173732" y="4288536"/>
            <a:ext cx="4114143" cy="171907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02920" y="6135624"/>
            <a:ext cx="5455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route table configuration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6233008" y="4260186"/>
            <a:ext cx="5455768" cy="1775771"/>
          </a:xfrm>
          <a:prstGeom prst="roundRect">
            <a:avLst>
              <a:gd name="adj" fmla="val 309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5000"/>
              </a:srgbClr>
            </a:outerShdw>
          </a:effectLst>
        </p:spPr>
      </p:sp>
      <p:pic>
        <p:nvPicPr>
          <p:cNvPr id="16" name="Image 3" descr="WhatsApp_Image_2026-09-01_at_12_37_33_AM.jpe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361024" y="4388202"/>
            <a:ext cx="5199736" cy="1519739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233008" y="6135624"/>
            <a:ext cx="5455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resource map — subnets, routes &amp; gateways</a:t>
            </a:r>
            <a:endParaRPr lang="en-US" sz="1100" dirty="0"/>
          </a:p>
        </p:txBody>
      </p:sp>
      <p:sp>
        <p:nvSpPr>
          <p:cNvPr id="18" name="Text 12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CloudSentinel — Cloud Security Detection &amp; Auto-Response Platform</a:t>
            </a:r>
            <a:endParaRPr lang="en-US" sz="900" dirty="0"/>
          </a:p>
        </p:txBody>
      </p:sp>
      <p:sp>
        <p:nvSpPr>
          <p:cNvPr id="19" name="Text 13"/>
          <p:cNvSpPr txBox="1"/>
          <p:nvPr/>
        </p:nvSpPr>
        <p:spPr>
          <a:xfrm>
            <a:off x="1123157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10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45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afterEffect">
                            <p:stCondLst>
                              <p:cond delay="14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0" nodeType="afterEffect">
                            <p:stCondLst>
                              <p:cond delay="2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grpId="0" nodeType="afterEffect">
                            <p:stCondLst>
                              <p:cond delay="42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grpId="0" nodeType="afterEffect">
                            <p:stCondLst>
                              <p:cond delay="56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grpId="0" nodeType="after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grpId="0" nodeType="afterEffect">
                            <p:stCondLst>
                              <p:cond delay="84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grpId="0" nodeType="afterEffect">
                            <p:stCondLst>
                              <p:cond delay="98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10" presetClass="entr" presetSubtype="0" fill="hold" grpId="0" nodeType="afterEffect">
                            <p:stCondLst>
                              <p:cond delay="112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presetID="10" presetClass="entr" presetSubtype="0" fill="hold" grpId="0" nodeType="afterEffect">
                            <p:stCondLst>
                              <p:cond delay="126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presetID="10" presetClass="entr" presetSubtype="0" fill="hold" grpId="0" nodeType="afterEffect">
                            <p:stCondLst>
                              <p:cond delay="140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presetID="10" presetClass="entr" presetSubtype="0" fill="hold" grpId="0" nodeType="afterEffect">
                            <p:stCondLst>
                              <p:cond delay="154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afterEffect">
                            <p:stCondLst>
                              <p:cond delay="168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9" presetID="10" presetClass="entr" presetSubtype="0" fill="hold" grpId="0" nodeType="afterEffect">
                            <p:stCondLst>
                              <p:cond delay="182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2" presetID="10" presetClass="entr" presetSubtype="0" fill="hold" grpId="0" nodeType="afterEffect">
                            <p:stCondLst>
                              <p:cond delay="196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5" presetID="10" presetClass="entr" presetSubtype="0" fill="hold" grpId="0" nodeType="afterEffect">
                            <p:stCondLst>
                              <p:cond delay="210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7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8" presetID="10" presetClass="entr" presetSubtype="0" fill="hold" grpId="0" nodeType="afterEffect">
                            <p:stCondLst>
                              <p:cond delay="224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4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afterEffect">
                            <p:stCondLst>
                              <p:cond delay="238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45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8404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Locking Down Access (Security Groups)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8686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dedicated security groups enforce least-privilege access between the ALB, the EC2 web tier, and the RDS database.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940289" y="1600200"/>
            <a:ext cx="2581029" cy="1975104"/>
          </a:xfrm>
          <a:prstGeom prst="roundRect">
            <a:avLst>
              <a:gd name="adj" fmla="val 27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5000"/>
              </a:srgbClr>
            </a:outerShdw>
          </a:effectLst>
        </p:spPr>
      </p:sp>
      <p:pic>
        <p:nvPicPr>
          <p:cNvPr id="7" name="Image 0" descr="WhatsApp_Image_2026-09-01_at_12_37_32_AM__1_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068305" y="1728216"/>
            <a:ext cx="2324997" cy="171907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02920" y="3575304"/>
            <a:ext cx="5455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 security group — HTTP/HTTPS from the internet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459503" y="1600200"/>
            <a:ext cx="3002776" cy="1975104"/>
          </a:xfrm>
          <a:prstGeom prst="roundRect">
            <a:avLst>
              <a:gd name="adj" fmla="val 27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5000"/>
              </a:srgbClr>
            </a:outerShdw>
          </a:effectLst>
        </p:spPr>
      </p:sp>
      <p:pic>
        <p:nvPicPr>
          <p:cNvPr id="10" name="Image 1" descr="WhatsApp_Image_2026-09-01_at_12_37_34_AM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587519" y="1728216"/>
            <a:ext cx="2746744" cy="17190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233008" y="3575304"/>
            <a:ext cx="5455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security group created successfully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2186440" y="4160520"/>
            <a:ext cx="2088727" cy="1975104"/>
          </a:xfrm>
          <a:prstGeom prst="roundRect">
            <a:avLst>
              <a:gd name="adj" fmla="val 27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5000"/>
              </a:srgbClr>
            </a:outerShdw>
          </a:effectLst>
        </p:spPr>
      </p:sp>
      <p:pic>
        <p:nvPicPr>
          <p:cNvPr id="13" name="Image 2" descr="WhatsApp_Image_2026-09-01_at_12_37_36_AM.jpe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314456" y="4288536"/>
            <a:ext cx="1832695" cy="171907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02920" y="6135624"/>
            <a:ext cx="5455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security group — MySQL access from EC2 only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6233008" y="4506582"/>
            <a:ext cx="5455768" cy="1282980"/>
          </a:xfrm>
          <a:prstGeom prst="roundRect">
            <a:avLst>
              <a:gd name="adj" fmla="val 427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5000"/>
              </a:srgbClr>
            </a:outerShdw>
          </a:effectLst>
        </p:spPr>
      </p:sp>
      <p:pic>
        <p:nvPicPr>
          <p:cNvPr id="16" name="Image 3" descr="WhatsApp_Image_2026-09-01_at_12_37_35_AM.jpe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361024" y="4634598"/>
            <a:ext cx="5199736" cy="102694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233008" y="6135624"/>
            <a:ext cx="5455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security groups, side by side</a:t>
            </a:r>
            <a:endParaRPr lang="en-US" sz="1100" dirty="0"/>
          </a:p>
        </p:txBody>
      </p:sp>
      <p:sp>
        <p:nvSpPr>
          <p:cNvPr id="18" name="Text 12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CloudSentinel — Cloud Security Detection &amp; Auto-Response Platform</a:t>
            </a:r>
            <a:endParaRPr lang="en-US" sz="900" dirty="0"/>
          </a:p>
        </p:txBody>
      </p:sp>
      <p:sp>
        <p:nvSpPr>
          <p:cNvPr id="19" name="Text 13"/>
          <p:cNvSpPr txBox="1"/>
          <p:nvPr/>
        </p:nvSpPr>
        <p:spPr>
          <a:xfrm>
            <a:off x="1123157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10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45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afterEffect">
                            <p:stCondLst>
                              <p:cond delay="14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0" nodeType="afterEffect">
                            <p:stCondLst>
                              <p:cond delay="2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grpId="0" nodeType="afterEffect">
                            <p:stCondLst>
                              <p:cond delay="42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grpId="0" nodeType="afterEffect">
                            <p:stCondLst>
                              <p:cond delay="56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grpId="0" nodeType="after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grpId="0" nodeType="afterEffect">
                            <p:stCondLst>
                              <p:cond delay="84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grpId="0" nodeType="afterEffect">
                            <p:stCondLst>
                              <p:cond delay="98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10" presetClass="entr" presetSubtype="0" fill="hold" grpId="0" nodeType="afterEffect">
                            <p:stCondLst>
                              <p:cond delay="112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presetID="10" presetClass="entr" presetSubtype="0" fill="hold" grpId="0" nodeType="afterEffect">
                            <p:stCondLst>
                              <p:cond delay="126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presetID="10" presetClass="entr" presetSubtype="0" fill="hold" grpId="0" nodeType="afterEffect">
                            <p:stCondLst>
                              <p:cond delay="140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presetID="10" presetClass="entr" presetSubtype="0" fill="hold" grpId="0" nodeType="afterEffect">
                            <p:stCondLst>
                              <p:cond delay="154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afterEffect">
                            <p:stCondLst>
                              <p:cond delay="168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9" presetID="10" presetClass="entr" presetSubtype="0" fill="hold" grpId="0" nodeType="afterEffect">
                            <p:stCondLst>
                              <p:cond delay="182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2" presetID="10" presetClass="entr" presetSubtype="0" fill="hold" grpId="0" nodeType="afterEffect">
                            <p:stCondLst>
                              <p:cond delay="196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5" presetID="10" presetClass="entr" presetSubtype="0" fill="hold" grpId="0" nodeType="afterEffect">
                            <p:stCondLst>
                              <p:cond delay="210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7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8" presetID="10" presetClass="entr" presetSubtype="0" fill="hold" grpId="0" nodeType="afterEffect">
                            <p:stCondLst>
                              <p:cond delay="224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4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afterEffect">
                            <p:stCondLst>
                              <p:cond delay="238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45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8404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S3 Bucket for Evidence Storage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8686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S3 bucket stores security artifacts and logs collected by the platform.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508760" y="2108881"/>
            <a:ext cx="9144000" cy="2877983"/>
          </a:xfrm>
          <a:prstGeom prst="roundRect">
            <a:avLst>
              <a:gd name="adj" fmla="val 190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5000"/>
              </a:srgbClr>
            </a:outerShdw>
          </a:effectLst>
        </p:spPr>
      </p:sp>
      <p:pic>
        <p:nvPicPr>
          <p:cNvPr id="7" name="Image 0" descr="WhatsApp_Image_2026-09-01_at_12_37_37_AM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36776" y="2236897"/>
            <a:ext cx="8887968" cy="262195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08760" y="4992624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cloudsentinel-evidence bucket, created in us-east-1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CloudSentinel — Cloud Security Detection &amp; Auto-Response Platform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23157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10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45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afterEffect">
                            <p:stCondLst>
                              <p:cond delay="14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0" nodeType="afterEffect">
                            <p:stCondLst>
                              <p:cond delay="2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grpId="0" nodeType="afterEffect">
                            <p:stCondLst>
                              <p:cond delay="42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grpId="0" nodeType="afterEffect">
                            <p:stCondLst>
                              <p:cond delay="56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grpId="0" nodeType="after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grpId="0" nodeType="afterEffect">
                            <p:stCondLst>
                              <p:cond delay="84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grpId="0" nodeType="afterEffect">
                            <p:stCondLst>
                              <p:cond delay="98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10" presetClass="entr" presetSubtype="0" fill="hold" grpId="0" nodeType="afterEffect">
                            <p:stCondLst>
                              <p:cond delay="112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8404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SNS — Real-Time Security Alerting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8686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SNS topic pushes an e-mail notification to the security team the instant a suspicious event is logged.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488026" y="1600200"/>
            <a:ext cx="3462695" cy="1426464"/>
          </a:xfrm>
          <a:prstGeom prst="roundRect">
            <a:avLst>
              <a:gd name="adj" fmla="val 384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5000"/>
              </a:srgbClr>
            </a:outerShdw>
          </a:effectLst>
        </p:spPr>
      </p:sp>
      <p:pic>
        <p:nvPicPr>
          <p:cNvPr id="7" name="Image 0" descr="WhatsApp_Image_2026-09-01_at_12_37_38_AM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6042" y="1728216"/>
            <a:ext cx="3206663" cy="117043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02920" y="3026664"/>
            <a:ext cx="54329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CloudSentinelAlerts SNS topic, confirmed e-mail subscription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408193" y="1600200"/>
            <a:ext cx="3128258" cy="1426464"/>
          </a:xfrm>
          <a:prstGeom prst="roundRect">
            <a:avLst>
              <a:gd name="adj" fmla="val 384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5000"/>
              </a:srgbClr>
            </a:outerShdw>
          </a:effectLst>
        </p:spPr>
      </p:sp>
      <p:pic>
        <p:nvPicPr>
          <p:cNvPr id="10" name="Image 1" descr="WhatsApp_Image_2026-09-01_at_12_37_39_AM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536209" y="1728216"/>
            <a:ext cx="2872226" cy="117043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255868" y="3026664"/>
            <a:ext cx="54329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Subscription-confirmation e-mail from AWS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02920" y="3749040"/>
            <a:ext cx="11185855" cy="2468880"/>
          </a:xfrm>
          <a:prstGeom prst="roundRect">
            <a:avLst>
              <a:gd name="adj" fmla="val 2963"/>
            </a:avLst>
          </a:prstGeom>
          <a:solidFill>
            <a:srgbClr val="141B2E"/>
          </a:solidFill>
          <a:ln w="12700">
            <a:solidFill>
              <a:srgbClr val="2A3452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77240" y="393192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alert reaches the team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777240" y="4389120"/>
            <a:ext cx="2331720" cy="731520"/>
          </a:xfrm>
          <a:prstGeom prst="roundRect">
            <a:avLst>
              <a:gd name="adj" fmla="val 8750"/>
            </a:avLst>
          </a:prstGeom>
          <a:solidFill>
            <a:srgbClr val="1C2540"/>
          </a:solidFill>
          <a:ln w="15875">
            <a:solidFill>
              <a:srgbClr val="3B82F6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77240" y="4389120"/>
            <a:ext cx="233172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Decoy path hit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3108960" y="438912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3"/>
          <p:cNvSpPr/>
          <p:nvPr/>
        </p:nvSpPr>
        <p:spPr>
          <a:xfrm>
            <a:off x="3429000" y="4389120"/>
            <a:ext cx="2331720" cy="731520"/>
          </a:xfrm>
          <a:prstGeom prst="roundRect">
            <a:avLst>
              <a:gd name="adj" fmla="val 8750"/>
            </a:avLst>
          </a:prstGeom>
          <a:solidFill>
            <a:srgbClr val="1C2540"/>
          </a:solidFill>
          <a:ln w="15875">
            <a:solidFill>
              <a:srgbClr val="3B82F6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3429000" y="4389120"/>
            <a:ext cx="233172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logged (security.log)</a:t>
            </a:r>
            <a:endParaRPr lang="en-US" sz="1150" dirty="0"/>
          </a:p>
        </p:txBody>
      </p:sp>
      <p:sp>
        <p:nvSpPr>
          <p:cNvPr id="19" name="Text 15"/>
          <p:cNvSpPr txBox="1"/>
          <p:nvPr/>
        </p:nvSpPr>
        <p:spPr>
          <a:xfrm>
            <a:off x="5760720" y="438912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6080760" y="4389120"/>
            <a:ext cx="2331720" cy="731520"/>
          </a:xfrm>
          <a:prstGeom prst="roundRect">
            <a:avLst>
              <a:gd name="adj" fmla="val 8750"/>
            </a:avLst>
          </a:prstGeom>
          <a:solidFill>
            <a:srgbClr val="1C2540"/>
          </a:solidFill>
          <a:ln w="15875">
            <a:solidFill>
              <a:srgbClr val="3B82F6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080760" y="4389120"/>
            <a:ext cx="233172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 topic notified</a:t>
            </a:r>
            <a:endParaRPr lang="en-US" sz="1150" dirty="0"/>
          </a:p>
        </p:txBody>
      </p:sp>
      <p:sp>
        <p:nvSpPr>
          <p:cNvPr id="22" name="Text 18"/>
          <p:cNvSpPr txBox="1"/>
          <p:nvPr/>
        </p:nvSpPr>
        <p:spPr>
          <a:xfrm>
            <a:off x="8412480" y="438912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8732520" y="4389120"/>
            <a:ext cx="2331720" cy="731520"/>
          </a:xfrm>
          <a:prstGeom prst="roundRect">
            <a:avLst>
              <a:gd name="adj" fmla="val 8750"/>
            </a:avLst>
          </a:prstGeom>
          <a:solidFill>
            <a:srgbClr val="1C2540"/>
          </a:solidFill>
          <a:ln w="15875">
            <a:solidFill>
              <a:srgbClr val="3B82F6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8732520" y="4389120"/>
            <a:ext cx="233172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sent to security team</a:t>
            </a:r>
            <a:endParaRPr lang="en-US" sz="1150" dirty="0"/>
          </a:p>
        </p:txBody>
      </p:sp>
      <p:sp>
        <p:nvSpPr>
          <p:cNvPr id="25" name="Text 21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CloudSentinel — Cloud Security Detection &amp; Auto-Response Platform</a:t>
            </a:r>
            <a:endParaRPr lang="en-US" sz="900" dirty="0"/>
          </a:p>
        </p:txBody>
      </p:sp>
      <p:sp>
        <p:nvSpPr>
          <p:cNvPr id="26" name="Text 22"/>
          <p:cNvSpPr txBox="1"/>
          <p:nvPr/>
        </p:nvSpPr>
        <p:spPr>
          <a:xfrm>
            <a:off x="1123157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10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45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afterEffect">
                            <p:stCondLst>
                              <p:cond delay="14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0" nodeType="afterEffect">
                            <p:stCondLst>
                              <p:cond delay="2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grpId="0" nodeType="afterEffect">
                            <p:stCondLst>
                              <p:cond delay="42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grpId="0" nodeType="afterEffect">
                            <p:stCondLst>
                              <p:cond delay="56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grpId="0" nodeType="after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grpId="0" nodeType="afterEffect">
                            <p:stCondLst>
                              <p:cond delay="84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grpId="0" nodeType="afterEffect">
                            <p:stCondLst>
                              <p:cond delay="98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10" presetClass="entr" presetSubtype="0" fill="hold" grpId="0" nodeType="afterEffect">
                            <p:stCondLst>
                              <p:cond delay="112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presetID="10" presetClass="entr" presetSubtype="0" fill="hold" grpId="0" nodeType="afterEffect">
                            <p:stCondLst>
                              <p:cond delay="126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presetID="10" presetClass="entr" presetSubtype="0" fill="hold" grpId="0" nodeType="afterEffect">
                            <p:stCondLst>
                              <p:cond delay="140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presetID="10" presetClass="entr" presetSubtype="0" fill="hold" grpId="0" nodeType="afterEffect">
                            <p:stCondLst>
                              <p:cond delay="154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afterEffect">
                            <p:stCondLst>
                              <p:cond delay="168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9" presetID="10" presetClass="entr" presetSubtype="0" fill="hold" grpId="0" nodeType="afterEffect">
                            <p:stCondLst>
                              <p:cond delay="182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2" presetID="10" presetClass="entr" presetSubtype="0" fill="hold" grpId="0" nodeType="afterEffect">
                            <p:stCondLst>
                              <p:cond delay="196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5" presetID="10" presetClass="entr" presetSubtype="0" fill="hold" grpId="0" nodeType="afterEffect">
                            <p:stCondLst>
                              <p:cond delay="210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7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8" presetID="10" presetClass="entr" presetSubtype="0" fill="hold" grpId="0" nodeType="afterEffect">
                            <p:stCondLst>
                              <p:cond delay="224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4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afterEffect">
                            <p:stCondLst>
                              <p:cond delay="238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45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4" presetID="10" presetClass="entr" presetSubtype="0" fill="hold" grpId="0" nodeType="afterEffect">
                            <p:stCondLst>
                              <p:cond delay="252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6" dur="45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7" presetID="10" presetClass="entr" presetSubtype="0" fill="hold" grpId="0" nodeType="afterEffect">
                            <p:stCondLst>
                              <p:cond delay="2660"/>
                            </p:stCondLst>
                            <p:childTnLst>
                              <p:set>
                                <p:cBhvr>
                                  <p:cTn id="6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9" dur="45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0" presetID="10" presetClass="entr" presetSubtype="0" fill="hold" grpId="0" nodeType="afterEffect">
                            <p:stCondLst>
                              <p:cond delay="2800"/>
                            </p:stCondLst>
                            <p:childTnLst>
                              <p:set>
                                <p:cBhvr>
                                  <p:cTn id="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2" dur="45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3" presetID="10" presetClass="entr" presetSubtype="0" fill="hold" grpId="0" nodeType="afterEffect">
                            <p:stCondLst>
                              <p:cond delay="2940"/>
                            </p:stCondLst>
                            <p:childTnLst>
                              <p:set>
                                <p:cBhvr>
                                  <p:cTn id="7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5" dur="45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6" presetID="10" presetClass="entr" presetSubtype="0" fill="hold" grpId="0" nodeType="afterEffect">
                            <p:stCondLst>
                              <p:cond delay="3080"/>
                            </p:stCondLst>
                            <p:childTnLst>
                              <p:set>
                                <p:cBhvr>
                                  <p:cTn id="7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8" dur="45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9" presetID="10" presetClass="entr" presetSubtype="0" fill="hold" grpId="0" nodeType="afterEffect">
                            <p:stCondLst>
                              <p:cond delay="3220"/>
                            </p:stCondLst>
                            <p:childTnLst>
                              <p:set>
                                <p:cBhvr>
                                  <p:cTn id="8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1" dur="45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2" presetID="10" presetClass="entr" presetSubtype="0" fill="hold" grpId="0" nodeType="afterEffect">
                            <p:stCondLst>
                              <p:cond delay="3360"/>
                            </p:stCondLst>
                            <p:childTnLst>
                              <p:set>
                                <p:cBhvr>
                                  <p:cTn id="8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4" dur="45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8404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RDS — Managed Database Layer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8686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private MySQL instance on Amazon RDS backs the application, reachable only from the EC2 security group.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050290" y="1737360"/>
            <a:ext cx="6060941" cy="4169664"/>
          </a:xfrm>
          <a:prstGeom prst="roundRect">
            <a:avLst>
              <a:gd name="adj" fmla="val 1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5000"/>
              </a:srgbClr>
            </a:outerShdw>
          </a:effectLst>
        </p:spPr>
      </p:sp>
      <p:pic>
        <p:nvPicPr>
          <p:cNvPr id="7" name="Image 0" descr="WhatsApp_Image_2026-09-01_at_12_37_40_AM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178306" y="1865376"/>
            <a:ext cx="5804909" cy="391363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377440" y="5907024"/>
            <a:ext cx="7406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project1-db — MySQL Community instance provisioning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CloudSentinel — Cloud Security Detection &amp; Auto-Response Platform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23157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10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45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afterEffect">
                            <p:stCondLst>
                              <p:cond delay="14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0" nodeType="afterEffect">
                            <p:stCondLst>
                              <p:cond delay="2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grpId="0" nodeType="afterEffect">
                            <p:stCondLst>
                              <p:cond delay="42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grpId="0" nodeType="afterEffect">
                            <p:stCondLst>
                              <p:cond delay="56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grpId="0" nodeType="after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grpId="0" nodeType="afterEffect">
                            <p:stCondLst>
                              <p:cond delay="84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grpId="0" nodeType="afterEffect">
                            <p:stCondLst>
                              <p:cond delay="98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10" presetClass="entr" presetSubtype="0" fill="hold" grpId="0" nodeType="afterEffect">
                            <p:stCondLst>
                              <p:cond delay="112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8404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EC2 — Launching the Web Server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8686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Amazon Linux 2023 instance is launched into the private subnet with a scoped security group and key pair.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46272" y="1600200"/>
            <a:ext cx="4769065" cy="4398264"/>
          </a:xfrm>
          <a:prstGeom prst="roundRect">
            <a:avLst>
              <a:gd name="adj" fmla="val 124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5000"/>
              </a:srgbClr>
            </a:outerShdw>
          </a:effectLst>
        </p:spPr>
      </p:sp>
      <p:pic>
        <p:nvPicPr>
          <p:cNvPr id="7" name="Image 0" descr="WhatsApp_Image_2026-09-01_at_12_37_41_AM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74288" y="1728216"/>
            <a:ext cx="4513033" cy="414223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02920" y="5998464"/>
            <a:ext cx="5455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AMI and instance type (t3.micro)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538525" y="1600200"/>
            <a:ext cx="4844732" cy="4398264"/>
          </a:xfrm>
          <a:prstGeom prst="roundRect">
            <a:avLst>
              <a:gd name="adj" fmla="val 124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5000"/>
              </a:srgbClr>
            </a:outerShdw>
          </a:effectLst>
        </p:spPr>
      </p:sp>
      <p:pic>
        <p:nvPicPr>
          <p:cNvPr id="10" name="Image 1" descr="WhatsApp_Image_2026-09-01_at_12_37_43_AM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666541" y="1728216"/>
            <a:ext cx="4588700" cy="414223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233008" y="5998464"/>
            <a:ext cx="5455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pair, VPC, subnet &amp; security group settings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CloudSentinel — Cloud Security Detection &amp; Auto-Response Platform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1123157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10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45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afterEffect">
                            <p:stCondLst>
                              <p:cond delay="14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0" nodeType="afterEffect">
                            <p:stCondLst>
                              <p:cond delay="2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grpId="0" nodeType="afterEffect">
                            <p:stCondLst>
                              <p:cond delay="42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grpId="0" nodeType="afterEffect">
                            <p:stCondLst>
                              <p:cond delay="56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grpId="0" nodeType="after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grpId="0" nodeType="afterEffect">
                            <p:stCondLst>
                              <p:cond delay="84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grpId="0" nodeType="afterEffect">
                            <p:stCondLst>
                              <p:cond delay="98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10" presetClass="entr" presetSubtype="0" fill="hold" grpId="0" nodeType="afterEffect">
                            <p:stCondLst>
                              <p:cond delay="112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presetID="10" presetClass="entr" presetSubtype="0" fill="hold" grpId="0" nodeType="afterEffect">
                            <p:stCondLst>
                              <p:cond delay="126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presetID="10" presetClass="entr" presetSubtype="0" fill="hold" grpId="0" nodeType="afterEffect">
                            <p:stCondLst>
                              <p:cond delay="140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presetID="10" presetClass="entr" presetSubtype="0" fill="hold" grpId="0" nodeType="afterEffect">
                            <p:stCondLst>
                              <p:cond delay="154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8404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Access with SSM Session Manager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8686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SSH keys, no open port 22 — the instance is reached through an IAM-authenticated, browser-based shell.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783762" y="1737360"/>
            <a:ext cx="8593996" cy="4169664"/>
          </a:xfrm>
          <a:prstGeom prst="roundRect">
            <a:avLst>
              <a:gd name="adj" fmla="val 1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5000"/>
              </a:srgbClr>
            </a:outerShdw>
          </a:effectLst>
        </p:spPr>
      </p:sp>
      <p:pic>
        <p:nvPicPr>
          <p:cNvPr id="7" name="Image 0" descr="WhatsApp_Image_2026-09-01_at_12_37_44_AM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911778" y="1865376"/>
            <a:ext cx="8337964" cy="391363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51560" y="590702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Manager — selecting the target EC2 instance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CloudSentinel — Cloud Security Detection &amp; Auto-Response Platform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23157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10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45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afterEffect">
                            <p:stCondLst>
                              <p:cond delay="14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0" nodeType="afterEffect">
                            <p:stCondLst>
                              <p:cond delay="2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grpId="0" nodeType="afterEffect">
                            <p:stCondLst>
                              <p:cond delay="42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grpId="0" nodeType="afterEffect">
                            <p:stCondLst>
                              <p:cond delay="56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grpId="0" nodeType="after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grpId="0" nodeType="afterEffect">
                            <p:stCondLst>
                              <p:cond delay="84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grpId="0" nodeType="afterEffect">
                            <p:stCondLst>
                              <p:cond delay="98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10" presetClass="entr" presetSubtype="0" fill="hold" grpId="0" nodeType="afterEffect">
                            <p:stCondLst>
                              <p:cond delay="112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8404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Deploying &amp; Testing the Security App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8686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session, a Flask app is deployed that serves the site and quietly logs any visit to a decoy route.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812146"/>
            <a:ext cx="6492240" cy="3974371"/>
          </a:xfrm>
          <a:prstGeom prst="roundRect">
            <a:avLst>
              <a:gd name="adj" fmla="val 138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5000"/>
              </a:srgbClr>
            </a:outerShdw>
          </a:effectLst>
        </p:spPr>
      </p:sp>
      <p:pic>
        <p:nvPicPr>
          <p:cNvPr id="7" name="Image 0" descr="WhatsApp_Image_2026-09-01_at_12_37_47_AM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936" y="1940162"/>
            <a:ext cx="6236208" cy="3718339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02920" y="5998464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Manager terminal — app deployed and running on port 80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269480" y="1600200"/>
            <a:ext cx="4434840" cy="4709160"/>
          </a:xfrm>
          <a:prstGeom prst="roundRect">
            <a:avLst>
              <a:gd name="adj" fmla="val 1649"/>
            </a:avLst>
          </a:prstGeom>
          <a:solidFill>
            <a:srgbClr val="141B2E"/>
          </a:solidFill>
          <a:ln w="12700">
            <a:solidFill>
              <a:srgbClr val="2A345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543800" y="178308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Results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543800" y="2295144"/>
            <a:ext cx="109728" cy="10972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772400" y="21854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http://localhost/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0" y="245973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CloudSentinel HTML page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543800" y="3090672"/>
            <a:ext cx="109728" cy="10972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772400" y="29809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http://localhost/health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772400" y="325526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{"status":"healthy"}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543800" y="3886200"/>
            <a:ext cx="109728" cy="10972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772400" y="37764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Visit a decoy path (e.g. /admin)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772400" y="405079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403 Access denied — silently returned to the visitor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543800" y="4681728"/>
            <a:ext cx="109728" cy="10972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772400" y="4572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security.log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772400" y="48463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SECURITY_EVENT logged: DECEPTION_TRIGGER, path, risk score, source IP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CloudSentinel — Cloud Security Detection &amp; Auto-Response Platform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1123157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10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45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afterEffect">
                            <p:stCondLst>
                              <p:cond delay="14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0" nodeType="afterEffect">
                            <p:stCondLst>
                              <p:cond delay="2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grpId="0" nodeType="afterEffect">
                            <p:stCondLst>
                              <p:cond delay="42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grpId="0" nodeType="afterEffect">
                            <p:stCondLst>
                              <p:cond delay="56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grpId="0" nodeType="after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grpId="0" nodeType="afterEffect">
                            <p:stCondLst>
                              <p:cond delay="84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grpId="0" nodeType="afterEffect">
                            <p:stCondLst>
                              <p:cond delay="98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10" presetClass="entr" presetSubtype="0" fill="hold" grpId="0" nodeType="afterEffect">
                            <p:stCondLst>
                              <p:cond delay="112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presetID="10" presetClass="entr" presetSubtype="0" fill="hold" grpId="0" nodeType="afterEffect">
                            <p:stCondLst>
                              <p:cond delay="126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presetID="10" presetClass="entr" presetSubtype="0" fill="hold" grpId="0" nodeType="afterEffect">
                            <p:stCondLst>
                              <p:cond delay="140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presetID="10" presetClass="entr" presetSubtype="0" fill="hold" grpId="0" nodeType="afterEffect">
                            <p:stCondLst>
                              <p:cond delay="154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afterEffect">
                            <p:stCondLst>
                              <p:cond delay="168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9" presetID="10" presetClass="entr" presetSubtype="0" fill="hold" grpId="0" nodeType="afterEffect">
                            <p:stCondLst>
                              <p:cond delay="182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2" presetID="10" presetClass="entr" presetSubtype="0" fill="hold" grpId="0" nodeType="afterEffect">
                            <p:stCondLst>
                              <p:cond delay="196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5" presetID="10" presetClass="entr" presetSubtype="0" fill="hold" grpId="0" nodeType="afterEffect">
                            <p:stCondLst>
                              <p:cond delay="210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7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8" presetID="10" presetClass="entr" presetSubtype="0" fill="hold" grpId="0" nodeType="afterEffect">
                            <p:stCondLst>
                              <p:cond delay="224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4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afterEffect">
                            <p:stCondLst>
                              <p:cond delay="238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45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4" presetID="10" presetClass="entr" presetSubtype="0" fill="hold" grpId="0" nodeType="afterEffect">
                            <p:stCondLst>
                              <p:cond delay="252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6" dur="45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7" presetID="10" presetClass="entr" presetSubtype="0" fill="hold" grpId="0" nodeType="afterEffect">
                            <p:stCondLst>
                              <p:cond delay="2660"/>
                            </p:stCondLst>
                            <p:childTnLst>
                              <p:set>
                                <p:cBhvr>
                                  <p:cTn id="6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9" dur="45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0" presetID="10" presetClass="entr" presetSubtype="0" fill="hold" grpId="0" nodeType="afterEffect">
                            <p:stCondLst>
                              <p:cond delay="2800"/>
                            </p:stCondLst>
                            <p:childTnLst>
                              <p:set>
                                <p:cBhvr>
                                  <p:cTn id="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2" dur="45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3" presetID="10" presetClass="entr" presetSubtype="0" fill="hold" grpId="0" nodeType="afterEffect">
                            <p:stCondLst>
                              <p:cond delay="2940"/>
                            </p:stCondLst>
                            <p:childTnLst>
                              <p:set>
                                <p:cBhvr>
                                  <p:cTn id="7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5" dur="45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6" presetID="10" presetClass="entr" presetSubtype="0" fill="hold" grpId="0" nodeType="afterEffect">
                            <p:stCondLst>
                              <p:cond delay="3080"/>
                            </p:stCondLst>
                            <p:childTnLst>
                              <p:set>
                                <p:cBhvr>
                                  <p:cTn id="7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8" dur="45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8404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Load Balancer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8686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ALB distributes traffic across instances via a health-checked target group, enabling zero-downtime scaling.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121145"/>
            <a:ext cx="5455768" cy="3356374"/>
          </a:xfrm>
          <a:prstGeom prst="roundRect">
            <a:avLst>
              <a:gd name="adj" fmla="val 163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5000"/>
              </a:srgbClr>
            </a:outerShdw>
          </a:effectLst>
        </p:spPr>
      </p:sp>
      <p:pic>
        <p:nvPicPr>
          <p:cNvPr id="7" name="Image 0" descr="WhatsApp_Image_2026-09-01_at_12_37_45_AM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936" y="2249161"/>
            <a:ext cx="5199736" cy="310034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02920" y="5998464"/>
            <a:ext cx="5455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group created — health checks active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33008" y="2121145"/>
            <a:ext cx="5455768" cy="3356374"/>
          </a:xfrm>
          <a:prstGeom prst="roundRect">
            <a:avLst>
              <a:gd name="adj" fmla="val 163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5000"/>
              </a:srgbClr>
            </a:outerShdw>
          </a:effectLst>
        </p:spPr>
      </p:sp>
      <p:pic>
        <p:nvPicPr>
          <p:cNvPr id="10" name="Image 1" descr="WhatsApp_Image_2026-09-01_at_12_37_46_AM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61024" y="2249161"/>
            <a:ext cx="5199736" cy="310034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233008" y="5998464"/>
            <a:ext cx="5455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CloudSentinel-ALB — internet-facing load balancer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CloudSentinel — Cloud Security Detection &amp; Auto-Response Platform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1123157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10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45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afterEffect">
                            <p:stCondLst>
                              <p:cond delay="14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0" nodeType="afterEffect">
                            <p:stCondLst>
                              <p:cond delay="2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grpId="0" nodeType="afterEffect">
                            <p:stCondLst>
                              <p:cond delay="42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grpId="0" nodeType="afterEffect">
                            <p:stCondLst>
                              <p:cond delay="56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grpId="0" nodeType="after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grpId="0" nodeType="afterEffect">
                            <p:stCondLst>
                              <p:cond delay="84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grpId="0" nodeType="afterEffect">
                            <p:stCondLst>
                              <p:cond delay="98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10" presetClass="entr" presetSubtype="0" fill="hold" grpId="0" nodeType="afterEffect">
                            <p:stCondLst>
                              <p:cond delay="112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presetID="10" presetClass="entr" presetSubtype="0" fill="hold" grpId="0" nodeType="afterEffect">
                            <p:stCondLst>
                              <p:cond delay="126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presetID="10" presetClass="entr" presetSubtype="0" fill="hold" grpId="0" nodeType="afterEffect">
                            <p:stCondLst>
                              <p:cond delay="140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presetID="10" presetClass="entr" presetSubtype="0" fill="hold" grpId="0" nodeType="afterEffect">
                            <p:stCondLst>
                              <p:cond delay="154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8404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 Scaling Group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8686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ASG keeps 2–4 instances running behind the load balancer, replacing unhealthy nodes automatically.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586070" y="1737360"/>
            <a:ext cx="8989381" cy="4169664"/>
          </a:xfrm>
          <a:prstGeom prst="roundRect">
            <a:avLst>
              <a:gd name="adj" fmla="val 1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5000"/>
              </a:srgbClr>
            </a:outerShdw>
          </a:effectLst>
        </p:spPr>
      </p:sp>
      <p:pic>
        <p:nvPicPr>
          <p:cNvPr id="7" name="Image 0" descr="WhatsApp_Image_2026-09-01_at_12_37_48_AM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714086" y="1865376"/>
            <a:ext cx="8733349" cy="391363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51560" y="590702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project1-asg — desired capacity 2, scaling limits 2–4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CloudSentinel — Cloud Security Detection &amp; Auto-Response Platform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23157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10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45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afterEffect">
                            <p:stCondLst>
                              <p:cond delay="14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0" nodeType="afterEffect">
                            <p:stCondLst>
                              <p:cond delay="2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grpId="0" nodeType="afterEffect">
                            <p:stCondLst>
                              <p:cond delay="42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grpId="0" nodeType="afterEffect">
                            <p:stCondLst>
                              <p:cond delay="56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grpId="0" nodeType="after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grpId="0" nodeType="afterEffect">
                            <p:stCondLst>
                              <p:cond delay="84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grpId="0" nodeType="afterEffect">
                            <p:stCondLst>
                              <p:cond delay="98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10" presetClass="entr" presetSubtype="0" fill="hold" grpId="0" nodeType="afterEffect">
                            <p:stCondLst>
                              <p:cond delay="112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4572000" cy="4572000"/>
          </a:xfrm>
          <a:prstGeom prst="ellipse">
            <a:avLst/>
          </a:prstGeom>
          <a:solidFill>
            <a:srgbClr val="3B82F6">
              <a:alpha val="14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6858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2801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AWS infrastructure, security engineering, and automation practiced hands-on.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5097780" cy="1219200"/>
          </a:xfrm>
          <a:prstGeom prst="roundRect">
            <a:avLst>
              <a:gd name="adj" fmla="val 6000"/>
            </a:avLst>
          </a:prstGeom>
          <a:solidFill>
            <a:srgbClr val="141B2E"/>
          </a:solidFill>
          <a:ln w="12700">
            <a:solidFill>
              <a:srgbClr val="2A34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2167128"/>
            <a:ext cx="128016" cy="128016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280160" y="2093976"/>
            <a:ext cx="4411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Network Design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423160"/>
            <a:ext cx="46405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Multi-AZ VPC, subnetting, and least-privilege security groups.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86500" y="1965960"/>
            <a:ext cx="5097780" cy="1219200"/>
          </a:xfrm>
          <a:prstGeom prst="roundRect">
            <a:avLst>
              <a:gd name="adj" fmla="val 6000"/>
            </a:avLst>
          </a:prstGeom>
          <a:solidFill>
            <a:srgbClr val="141B2E"/>
          </a:solidFill>
          <a:ln w="12700">
            <a:solidFill>
              <a:srgbClr val="2A345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15100" y="2167128"/>
            <a:ext cx="128016" cy="128016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743700" y="2093976"/>
            <a:ext cx="4411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Deception-Based Detection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515100" y="2423160"/>
            <a:ext cx="46405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Decoy endpoints that catch reconnaissance before real damage.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2960" y="3505200"/>
            <a:ext cx="5097780" cy="1219200"/>
          </a:xfrm>
          <a:prstGeom prst="roundRect">
            <a:avLst>
              <a:gd name="adj" fmla="val 6000"/>
            </a:avLst>
          </a:prstGeom>
          <a:solidFill>
            <a:srgbClr val="141B2E"/>
          </a:solidFill>
          <a:ln w="12700">
            <a:solidFill>
              <a:srgbClr val="2A345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51560" y="3706368"/>
            <a:ext cx="128016" cy="12801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280160" y="3633216"/>
            <a:ext cx="4411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Alerting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3962400"/>
            <a:ext cx="46405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SNS-driven e-mail notifications on suspicious activity.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86500" y="3505200"/>
            <a:ext cx="5097780" cy="1219200"/>
          </a:xfrm>
          <a:prstGeom prst="roundRect">
            <a:avLst>
              <a:gd name="adj" fmla="val 6000"/>
            </a:avLst>
          </a:prstGeom>
          <a:solidFill>
            <a:srgbClr val="141B2E"/>
          </a:solidFill>
          <a:ln w="12700">
            <a:solidFill>
              <a:srgbClr val="2A345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15100" y="3706368"/>
            <a:ext cx="128016" cy="128016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743700" y="3633216"/>
            <a:ext cx="4411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Availability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515100" y="3962400"/>
            <a:ext cx="46405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 + Auto Scaling Group deliver resilience and elasticity.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22960" y="5044440"/>
            <a:ext cx="5097780" cy="1219200"/>
          </a:xfrm>
          <a:prstGeom prst="roundRect">
            <a:avLst>
              <a:gd name="adj" fmla="val 6000"/>
            </a:avLst>
          </a:prstGeom>
          <a:solidFill>
            <a:srgbClr val="141B2E"/>
          </a:solidFill>
          <a:ln w="12700">
            <a:solidFill>
              <a:srgbClr val="2A345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51560" y="5245608"/>
            <a:ext cx="128016" cy="128016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280160" y="5172456"/>
            <a:ext cx="4411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Keyless Server Access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1051560" y="5501640"/>
            <a:ext cx="46405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IAM-authenticated SSM Session Manager instead of SSH.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86500" y="5044440"/>
            <a:ext cx="5097780" cy="1219200"/>
          </a:xfrm>
          <a:prstGeom prst="roundRect">
            <a:avLst>
              <a:gd name="adj" fmla="val 6000"/>
            </a:avLst>
          </a:prstGeom>
          <a:solidFill>
            <a:srgbClr val="141B2E"/>
          </a:solidFill>
          <a:ln w="12700">
            <a:solidFill>
              <a:srgbClr val="2A345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15100" y="5245608"/>
            <a:ext cx="128016" cy="12801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743700" y="5172456"/>
            <a:ext cx="4411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Data Layer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6515100" y="5501640"/>
            <a:ext cx="46405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MySQL and S3 for structured and evidentiary storage.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6400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13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10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45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afterEffect">
                            <p:stCondLst>
                              <p:cond delay="14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0" nodeType="afterEffect">
                            <p:stCondLst>
                              <p:cond delay="2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grpId="0" nodeType="afterEffect">
                            <p:stCondLst>
                              <p:cond delay="42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grpId="0" nodeType="afterEffect">
                            <p:stCondLst>
                              <p:cond delay="56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grpId="0" nodeType="after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grpId="0" nodeType="afterEffect">
                            <p:stCondLst>
                              <p:cond delay="84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grpId="0" nodeType="afterEffect">
                            <p:stCondLst>
                              <p:cond delay="98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10" presetClass="entr" presetSubtype="0" fill="hold" grpId="0" nodeType="afterEffect">
                            <p:stCondLst>
                              <p:cond delay="112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presetID="10" presetClass="entr" presetSubtype="0" fill="hold" grpId="0" nodeType="afterEffect">
                            <p:stCondLst>
                              <p:cond delay="126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presetID="10" presetClass="entr" presetSubtype="0" fill="hold" grpId="0" nodeType="afterEffect">
                            <p:stCondLst>
                              <p:cond delay="140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presetID="10" presetClass="entr" presetSubtype="0" fill="hold" grpId="0" nodeType="afterEffect">
                            <p:stCondLst>
                              <p:cond delay="154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afterEffect">
                            <p:stCondLst>
                              <p:cond delay="168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9" presetID="10" presetClass="entr" presetSubtype="0" fill="hold" grpId="0" nodeType="afterEffect">
                            <p:stCondLst>
                              <p:cond delay="182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2" presetID="10" presetClass="entr" presetSubtype="0" fill="hold" grpId="0" nodeType="afterEffect">
                            <p:stCondLst>
                              <p:cond delay="196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5" presetID="10" presetClass="entr" presetSubtype="0" fill="hold" grpId="0" nodeType="afterEffect">
                            <p:stCondLst>
                              <p:cond delay="210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7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8" presetID="10" presetClass="entr" presetSubtype="0" fill="hold" grpId="0" nodeType="afterEffect">
                            <p:stCondLst>
                              <p:cond delay="224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4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afterEffect">
                            <p:stCondLst>
                              <p:cond delay="238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45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4" presetID="10" presetClass="entr" presetSubtype="0" fill="hold" grpId="0" nodeType="afterEffect">
                            <p:stCondLst>
                              <p:cond delay="252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6" dur="45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7" presetID="10" presetClass="entr" presetSubtype="0" fill="hold" grpId="0" nodeType="afterEffect">
                            <p:stCondLst>
                              <p:cond delay="2660"/>
                            </p:stCondLst>
                            <p:childTnLst>
                              <p:set>
                                <p:cBhvr>
                                  <p:cTn id="6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9" dur="45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0" presetID="10" presetClass="entr" presetSubtype="0" fill="hold" grpId="0" nodeType="afterEffect">
                            <p:stCondLst>
                              <p:cond delay="2800"/>
                            </p:stCondLst>
                            <p:childTnLst>
                              <p:set>
                                <p:cBhvr>
                                  <p:cTn id="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2" dur="45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3" presetID="10" presetClass="entr" presetSubtype="0" fill="hold" grpId="0" nodeType="afterEffect">
                            <p:stCondLst>
                              <p:cond delay="2940"/>
                            </p:stCondLst>
                            <p:childTnLst>
                              <p:set>
                                <p:cBhvr>
                                  <p:cTn id="7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5" dur="45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6" presetID="10" presetClass="entr" presetSubtype="0" fill="hold" grpId="0" nodeType="afterEffect">
                            <p:stCondLst>
                              <p:cond delay="3080"/>
                            </p:stCondLst>
                            <p:childTnLst>
                              <p:set>
                                <p:cBhvr>
                                  <p:cTn id="7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8" dur="45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9" presetID="10" presetClass="entr" presetSubtype="0" fill="hold" grpId="0" nodeType="afterEffect">
                            <p:stCondLst>
                              <p:cond delay="3220"/>
                            </p:stCondLst>
                            <p:childTnLst>
                              <p:set>
                                <p:cBhvr>
                                  <p:cTn id="8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1" dur="45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2" presetID="10" presetClass="entr" presetSubtype="0" fill="hold" grpId="0" nodeType="afterEffect">
                            <p:stCondLst>
                              <p:cond delay="3360"/>
                            </p:stCondLst>
                            <p:childTnLst>
                              <p:set>
                                <p:cBhvr>
                                  <p:cTn id="8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4" dur="45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5" presetID="10" presetClass="entr" presetSubtype="0" fill="hold" grpId="0" nodeType="afterEffect">
                            <p:stCondLst>
                              <p:cond delay="3500"/>
                            </p:stCondLst>
                            <p:childTnLst>
                              <p:set>
                                <p:cBhvr>
                                  <p:cTn id="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7" dur="45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8" presetID="10" presetClass="entr" presetSubtype="0" fill="hold" grpId="0" nodeType="afterEffect">
                            <p:stCondLst>
                              <p:cond delay="3640"/>
                            </p:stCondLst>
                            <p:childTnLst>
                              <p:set>
                                <p:cBhvr>
                                  <p:cTn id="8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0" dur="45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1" presetID="10" presetClass="entr" presetSubtype="0" fill="hold" grpId="0" nodeType="afterEffect">
                            <p:stCondLst>
                              <p:cond delay="3780"/>
                            </p:stCondLst>
                            <p:childTnLst>
                              <p:set>
                                <p:cBhvr>
                                  <p:cTn id="9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3" dur="45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2026-09-01T19:13:55Z</dcterms:created>
  <dcterms:modified xsi:type="dcterms:W3CDTF">2026-09-01T19:13:55Z</dcterms:modified>
</cp:coreProperties>
</file>